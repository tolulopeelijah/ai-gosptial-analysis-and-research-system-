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</a:rPr>
              <a:t>WIES — Water Intelligence for Education Stewardship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9CB3C9"/>
                </a:solidFill>
              </a:rPr>
              <a:t>Ask a geography question in plain English. Get a map, a table, and an evidence-backed answer.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657600"/>
            <a:ext cx="3291840" cy="2103120"/>
          </a:xfrm>
          <a:prstGeom prst="roundRect">
            <a:avLst/>
          </a:prstGeom>
          <a:solidFill>
            <a:srgbClr val="1A2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657600"/>
            <a:ext cx="3291840" cy="7620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2743200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2DD4BF"/>
                </a:solidFill>
              </a:rPr>
              <a:t>🗣️ Natural language in</a:t>
            </a:r>
          </a:p>
          <a:p>
            <a:r>
              <a:rPr sz="1500">
                <a:solidFill>
                  <a:srgbClr val="FFFFFF"/>
                </a:solidFill>
              </a:rPr>
              <a:t>query, aims, chat history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657600"/>
            <a:ext cx="3291840" cy="2103120"/>
          </a:xfrm>
          <a:prstGeom prst="roundRect">
            <a:avLst/>
          </a:prstGeom>
          <a:solidFill>
            <a:srgbClr val="1A2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3657600"/>
            <a:ext cx="3291840" cy="7620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3977639"/>
            <a:ext cx="2743200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2DD4BF"/>
                </a:solidFill>
              </a:rPr>
              <a:t>🧠 LLM decides WHAT to do</a:t>
            </a:r>
          </a:p>
          <a:p>
            <a:r>
              <a:rPr sz="1500">
                <a:solidFill>
                  <a:srgbClr val="FFFFFF"/>
                </a:solidFill>
              </a:rPr>
              <a:t>never does the math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657600"/>
            <a:ext cx="3291840" cy="2103120"/>
          </a:xfrm>
          <a:prstGeom prst="roundRect">
            <a:avLst/>
          </a:prstGeom>
          <a:solidFill>
            <a:srgbClr val="1A2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0" y="3657600"/>
            <a:ext cx="3291840" cy="7620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3977639"/>
            <a:ext cx="2743200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2DD4BF"/>
                </a:solidFill>
              </a:rPr>
              <a:t>📐 Deterministic tools DO it</a:t>
            </a:r>
          </a:p>
          <a:p>
            <a:r>
              <a:rPr sz="1500">
                <a:solidFill>
                  <a:srgbClr val="FFFFFF"/>
                </a:solidFill>
              </a:rPr>
              <a:t>buffer · intersect · query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B3C9"/>
                </a:solidFill>
              </a:rPr>
              <a:t>PHASE 1  ·  BIG PICTURE      PHASE 2  ·  FOLDERS      PHASE 3  ·  CODE      PHASE 4  ·  INSIDE THE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DD4BF"/>
                </a:solidFill>
              </a:rPr>
              <a:t>PHASE 1 · 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</a:rPr>
              <a:t>The one big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9CB3C9"/>
                </a:solidFill>
              </a:rPr>
              <a:t>LLM = the brain. Python tools = the hands. Data = the ground truth.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3474720" cy="3840480"/>
          </a:xfrm>
          <a:prstGeom prst="roundRect">
            <a:avLst/>
          </a:prstGeom>
          <a:solidFill>
            <a:srgbClr val="1A2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3474720" cy="7620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606040"/>
            <a:ext cx="292607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2DD4BF"/>
                </a:solidFill>
              </a:rPr>
              <a:t>❌ Not a chatbot</a:t>
            </a:r>
          </a:p>
          <a:p>
            <a:r>
              <a:rPr sz="1500">
                <a:solidFill>
                  <a:srgbClr val="FFFFFF"/>
                </a:solidFill>
              </a:rPr>
              <a:t>It doesn't guess coordinates or invent facts from training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286000"/>
            <a:ext cx="3474720" cy="3840480"/>
          </a:xfrm>
          <a:prstGeom prst="roundRect">
            <a:avLst/>
          </a:prstGeom>
          <a:solidFill>
            <a:srgbClr val="1A2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97680" y="2286000"/>
            <a:ext cx="3474720" cy="7620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606040"/>
            <a:ext cx="292607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2DD4BF"/>
                </a:solidFill>
              </a:rPr>
              <a:t>❌ Not plain RAG</a:t>
            </a:r>
          </a:p>
          <a:p>
            <a:r>
              <a:rPr sz="1500">
                <a:solidFill>
                  <a:srgbClr val="FFFFFF"/>
                </a:solidFill>
              </a:rPr>
              <a:t>RAG (passage search) is just 1 of 8 tools — only for publications.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286000"/>
            <a:ext cx="3474720" cy="3840480"/>
          </a:xfrm>
          <a:prstGeom prst="roundRect">
            <a:avLst/>
          </a:prstGeom>
          <a:solidFill>
            <a:srgbClr val="1A2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2286000"/>
            <a:ext cx="3474720" cy="76200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606040"/>
            <a:ext cx="292607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60A5FA"/>
                </a:solidFill>
              </a:rPr>
              <a:t>✅ A GIS agent</a:t>
            </a:r>
          </a:p>
          <a:p>
            <a:r>
              <a:rPr sz="1500">
                <a:solidFill>
                  <a:srgbClr val="FFFFFF"/>
                </a:solidFill>
              </a:rPr>
              <a:t>Understands the question → plans tool steps → runs real spatial math → returns map + report.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DD4BF"/>
                </a:solidFill>
              </a:rPr>
              <a:t>PHASE 1 · 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</a:rPr>
              <a:t>From sentence to map in 5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9CB3C9"/>
                </a:solidFill>
              </a:rPr>
              <a:t>Example: “Find septic systems that intersect floodplain areas.”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2011680" cy="3291840"/>
          </a:xfrm>
          <a:prstGeom prst="roundRect">
            <a:avLst/>
          </a:prstGeom>
          <a:solidFill>
            <a:srgbClr val="1A2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2011680" cy="7620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606040"/>
            <a:ext cx="1463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2DD4BF"/>
                </a:solidFill>
              </a:rPr>
              <a:t>1 — UNDERSTAND</a:t>
            </a:r>
          </a:p>
          <a:p>
            <a:r>
              <a:rPr sz="1500">
                <a:solidFill>
                  <a:srgbClr val="FFFFFF"/>
                </a:solidFill>
              </a:rPr>
              <a:t>septic + floodplain
wanted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365760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2DD4BF"/>
                </a:solidFill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2286000"/>
            <a:ext cx="2011680" cy="3291840"/>
          </a:xfrm>
          <a:prstGeom prst="roundRect">
            <a:avLst/>
          </a:prstGeom>
          <a:solidFill>
            <a:srgbClr val="1A2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34640" y="2286000"/>
            <a:ext cx="2011680" cy="7620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2606040"/>
            <a:ext cx="1463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2DD4BF"/>
                </a:solidFill>
              </a:rPr>
              <a:t>2 — PLAN</a:t>
            </a:r>
          </a:p>
          <a:p>
            <a:r>
              <a:rPr sz="1500">
                <a:solidFill>
                  <a:srgbClr val="FFFFFF"/>
                </a:solidFill>
              </a:rPr>
              <a:t>fetch A,
fetch B,
intersect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365760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2DD4BF"/>
                </a:solidFill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2286000"/>
            <a:ext cx="2011680" cy="3291840"/>
          </a:xfrm>
          <a:prstGeom prst="roundRect">
            <a:avLst/>
          </a:prstGeom>
          <a:solidFill>
            <a:srgbClr val="1A2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20640" y="2286000"/>
            <a:ext cx="2011680" cy="7620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59" y="2606040"/>
            <a:ext cx="1463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2DD4BF"/>
                </a:solidFill>
              </a:rPr>
              <a:t>3 — VALIDATE</a:t>
            </a:r>
          </a:p>
          <a:p>
            <a:r>
              <a:rPr sz="1500">
                <a:solidFill>
                  <a:srgbClr val="FFFFFF"/>
                </a:solidFill>
              </a:rPr>
              <a:t>tools real?
deps OK?
no cycles?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365760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2DD4BF"/>
                </a:solidFill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2286000"/>
            <a:ext cx="2011680" cy="3291840"/>
          </a:xfrm>
          <a:prstGeom prst="roundRect">
            <a:avLst/>
          </a:prstGeom>
          <a:solidFill>
            <a:srgbClr val="1A2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06640" y="2286000"/>
            <a:ext cx="2011680" cy="7620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0" y="2606040"/>
            <a:ext cx="1463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2DD4BF"/>
                </a:solidFill>
              </a:rPr>
              <a:t>4 — EXECUTE</a:t>
            </a:r>
          </a:p>
          <a:p>
            <a:r>
              <a:rPr sz="1500">
                <a:solidFill>
                  <a:srgbClr val="FFFFFF"/>
                </a:solidFill>
              </a:rPr>
              <a:t>ArcGIS query
×2 + intersect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365760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2DD4BF"/>
                </a:solidFill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2640" y="2286000"/>
            <a:ext cx="2011680" cy="3291840"/>
          </a:xfrm>
          <a:prstGeom prst="roundRect">
            <a:avLst/>
          </a:prstGeom>
          <a:solidFill>
            <a:srgbClr val="1A2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92640" y="2286000"/>
            <a:ext cx="2011680" cy="76200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66960" y="2606040"/>
            <a:ext cx="1463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60A5FA"/>
                </a:solidFill>
              </a:rPr>
              <a:t>5 — ANSWER</a:t>
            </a:r>
          </a:p>
          <a:p>
            <a:r>
              <a:rPr sz="1500">
                <a:solidFill>
                  <a:srgbClr val="FFFFFF"/>
                </a:solidFill>
              </a:rPr>
              <a:t>map layer
+ count
+ report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DD4BF"/>
                </a:solidFill>
              </a:rPr>
              <a:t>PHASE 2 · FOLDERS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</a:rPr>
              <a:t>Where everything lives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9CB3C9"/>
                </a:solidFill>
              </a:rPr>
              <a:t>Two halves: Python backend does the thinking · React frontend draws the map.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2560320" cy="3474720"/>
          </a:xfrm>
          <a:prstGeom prst="roundRect">
            <a:avLst/>
          </a:prstGeom>
          <a:solidFill>
            <a:srgbClr val="1A2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2560320" cy="7620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606040"/>
            <a:ext cx="2011679" cy="2926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2DD4BF"/>
                </a:solidFill>
              </a:rPr>
              <a:t>agent/</a:t>
            </a:r>
          </a:p>
          <a:p>
            <a:r>
              <a:rPr sz="1500">
                <a:solidFill>
                  <a:srgbClr val="FFFFFF"/>
                </a:solidFill>
              </a:rPr>
              <a:t>The brain
planner, executor,
8 GIS tools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2286000"/>
            <a:ext cx="2560320" cy="3474720"/>
          </a:xfrm>
          <a:prstGeom prst="roundRect">
            <a:avLst/>
          </a:prstGeom>
          <a:solidFill>
            <a:srgbClr val="1A2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83280" y="2286000"/>
            <a:ext cx="2560320" cy="7620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606040"/>
            <a:ext cx="2011679" cy="2926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2DD4BF"/>
                </a:solidFill>
              </a:rPr>
              <a:t>server.py</a:t>
            </a:r>
          </a:p>
          <a:p>
            <a:r>
              <a:rPr sz="1500">
                <a:solidFill>
                  <a:srgbClr val="FFFFFF"/>
                </a:solidFill>
              </a:rPr>
              <a:t>The front door
POST /query
GET /health, /test-arcgis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286000"/>
            <a:ext cx="2560320" cy="3474720"/>
          </a:xfrm>
          <a:prstGeom prst="roundRect">
            <a:avLst/>
          </a:prstGeom>
          <a:solidFill>
            <a:srgbClr val="1A2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2286000"/>
            <a:ext cx="2560320" cy="76200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606040"/>
            <a:ext cx="2011679" cy="2926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60A5FA"/>
                </a:solidFill>
              </a:rPr>
              <a:t>frontend/ src/</a:t>
            </a:r>
          </a:p>
          <a:p>
            <a:r>
              <a:rPr sz="1500">
                <a:solidFill>
                  <a:srgbClr val="FFFFFF"/>
                </a:solidFill>
              </a:rPr>
              <a:t>The face
React + Leaflet
map, chat, reports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2286000"/>
            <a:ext cx="2560320" cy="3474720"/>
          </a:xfrm>
          <a:prstGeom prst="roundRect">
            <a:avLst/>
          </a:prstGeom>
          <a:solidFill>
            <a:srgbClr val="1A2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052560" y="2286000"/>
            <a:ext cx="2560320" cy="76200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2606040"/>
            <a:ext cx="2011679" cy="2926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60A5FA"/>
                </a:solidFill>
              </a:rPr>
              <a:t>data/ + knowledge/</a:t>
            </a:r>
          </a:p>
          <a:p>
            <a:r>
              <a:rPr sz="1500">
                <a:solidFill>
                  <a:srgbClr val="FFFFFF"/>
                </a:solidFill>
              </a:rPr>
              <a:t>The memory
Maumee XLSX
+ 312 citations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DD4BF"/>
                </a:solidFill>
              </a:rPr>
              <a:t>PHASE 2 · FOLDERS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</a:rPr>
              <a:t>Data: three sources, zero guessing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9CB3C9"/>
                </a:solidFill>
              </a:rPr>
              <a:t>Every dataset has a semantic name — the LLM never sees a raw URL.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3291840" cy="3474720"/>
          </a:xfrm>
          <a:prstGeom prst="roundRect">
            <a:avLst/>
          </a:prstGeom>
          <a:solidFill>
            <a:srgbClr val="1A2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3291840" cy="7620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606040"/>
            <a:ext cx="2743200" cy="2926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2DD4BF"/>
                </a:solidFill>
              </a:rPr>
              <a:t>septic_systems</a:t>
            </a:r>
          </a:p>
          <a:p>
            <a:r>
              <a:rPr sz="1500">
                <a:solidFill>
                  <a:srgbClr val="FFFFFF"/>
                </a:solidFill>
              </a:rPr>
              <a:t>ArcGIS MapServer/0 · LIVE · 15,919 polygons
LCHD SEPTIC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2286000"/>
            <a:ext cx="3291840" cy="3474720"/>
          </a:xfrm>
          <a:prstGeom prst="roundRect">
            <a:avLst/>
          </a:prstGeom>
          <a:solidFill>
            <a:srgbClr val="1A2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06240" y="2286000"/>
            <a:ext cx="3291840" cy="76200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59" y="2606040"/>
            <a:ext cx="2743200" cy="2926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60A5FA"/>
                </a:solidFill>
              </a:rPr>
              <a:t>floodplains</a:t>
            </a:r>
          </a:p>
          <a:p>
            <a:r>
              <a:rPr sz="1500">
                <a:solidFill>
                  <a:srgbClr val="FFFFFF"/>
                </a:solidFill>
              </a:rPr>
              <a:t>MapServer/6 + /7 · LIVE · 3,369 + 14 polygons
FLOOD HAZARD + COUNTY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286000"/>
            <a:ext cx="3291840" cy="3474720"/>
          </a:xfrm>
          <a:prstGeom prst="roundRect">
            <a:avLst/>
          </a:prstGeom>
          <a:solidFill>
            <a:srgbClr val="1A2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863840" y="2286000"/>
            <a:ext cx="3291840" cy="7620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2606040"/>
            <a:ext cx="2743200" cy="2926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2DD4BF"/>
                </a:solidFill>
              </a:rPr>
              <a:t>maumee_water_quality</a:t>
            </a:r>
          </a:p>
          <a:p>
            <a:r>
              <a:rPr sz="1500">
                <a:solidFill>
                  <a:srgbClr val="FFFFFF"/>
                </a:solidFill>
              </a:rPr>
              <a:t>Local XLSX · 22,753 rows · 1975→2025
flow, phosphorus, nitrogen…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DD4BF"/>
                </a:solidFill>
              </a:rPr>
              <a:t>PHASE 3 ·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</a:rPr>
              <a:t>agent/agent.py — the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9CB3C9"/>
                </a:solidFill>
              </a:rPr>
              <a:t>GeospatialAgent.ask(): understand → plan → validate → orchestrate → explain.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3474720" cy="3840480"/>
          </a:xfrm>
          <a:prstGeom prst="roundRect">
            <a:avLst/>
          </a:prstGeom>
          <a:solidFill>
            <a:srgbClr val="1A2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3474720" cy="7620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606040"/>
            <a:ext cx="292607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2DD4BF"/>
                </a:solidFill>
              </a:rPr>
              <a:t>1 · planner.plan()</a:t>
            </a:r>
          </a:p>
          <a:p>
            <a:r>
              <a:rPr sz="1500">
                <a:solidFill>
                  <a:srgbClr val="FFFFFF"/>
                </a:solidFill>
              </a:rPr>
              <a:t>OpenAI (structured JSON) picks tools.
No key / failure → RulePlanner fallback.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286000"/>
            <a:ext cx="3474720" cy="3840480"/>
          </a:xfrm>
          <a:prstGeom prst="roundRect">
            <a:avLst/>
          </a:prstGeom>
          <a:solidFill>
            <a:srgbClr val="1A2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97680" y="2286000"/>
            <a:ext cx="3474720" cy="7620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606040"/>
            <a:ext cx="292607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2DD4BF"/>
                </a:solidFill>
              </a:rPr>
              <a:t>2 · validate_plan()</a:t>
            </a:r>
          </a:p>
          <a:p>
            <a:r>
              <a:rPr sz="1500">
                <a:solidFill>
                  <a:srgbClr val="FFFFFF"/>
                </a:solidFill>
              </a:rPr>
              <a:t>Rejects unknown tools, bad datasets, dangling $refs, cycles.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286000"/>
            <a:ext cx="3474720" cy="3840480"/>
          </a:xfrm>
          <a:prstGeom prst="roundRect">
            <a:avLst/>
          </a:prstGeom>
          <a:solidFill>
            <a:srgbClr val="1A2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2286000"/>
            <a:ext cx="3474720" cy="76200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606040"/>
            <a:ext cx="292607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60A5FA"/>
                </a:solidFill>
              </a:rPr>
              <a:t>3 · orchestrator.execute()</a:t>
            </a:r>
          </a:p>
          <a:p>
            <a:r>
              <a:rPr sz="1500">
                <a:solidFill>
                  <a:srgbClr val="FFFFFF"/>
                </a:solidFill>
              </a:rPr>
              <a:t>Runs levels in order, resolves $step refs, 1 retry, merges layers + tables.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DD4BF"/>
                </a:solidFill>
              </a:rPr>
              <a:t>PHASE 3 ·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</a:rPr>
              <a:t>8 deterministic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9CB3C9"/>
                </a:solidFill>
              </a:rPr>
              <a:t>Each tool = name + JSON schema + Python function. No raw SQL / shell is ever exposed.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77440"/>
            <a:ext cx="2560320" cy="3291840"/>
          </a:xfrm>
          <a:prstGeom prst="roundRect">
            <a:avLst/>
          </a:prstGeom>
          <a:solidFill>
            <a:srgbClr val="1A2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2560320" cy="7620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697480"/>
            <a:ext cx="201167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2DD4BF"/>
                </a:solidFill>
              </a:rPr>
              <a:t>query_arcgis</a:t>
            </a:r>
          </a:p>
          <a:p>
            <a:r>
              <a:rPr sz="1500">
                <a:solidFill>
                  <a:srgbClr val="FFFFFF"/>
                </a:solidFill>
              </a:rPr>
              <a:t>dataset + where/bbox
→ GeoJSON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2377440"/>
            <a:ext cx="2560320" cy="3291840"/>
          </a:xfrm>
          <a:prstGeom prst="roundRect">
            <a:avLst/>
          </a:prstGeom>
          <a:solidFill>
            <a:srgbClr val="1A2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83280" y="2377440"/>
            <a:ext cx="2560320" cy="7620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697480"/>
            <a:ext cx="201167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2DD4BF"/>
                </a:solidFill>
              </a:rPr>
              <a:t>query_maumee</a:t>
            </a:r>
          </a:p>
          <a:p>
            <a:r>
              <a:rPr sz="1500">
                <a:solidFill>
                  <a:srgbClr val="FFFFFF"/>
                </a:solidFill>
              </a:rPr>
              <a:t>param + dates
→ table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377440"/>
            <a:ext cx="2560320" cy="3291840"/>
          </a:xfrm>
          <a:prstGeom prst="roundRect">
            <a:avLst/>
          </a:prstGeom>
          <a:solidFill>
            <a:srgbClr val="1A2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2377440"/>
            <a:ext cx="2560320" cy="7620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697480"/>
            <a:ext cx="201167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2DD4BF"/>
                </a:solidFill>
              </a:rPr>
              <a:t>buffer · intersect
nearest</a:t>
            </a:r>
          </a:p>
          <a:p>
            <a:r>
              <a:rPr sz="1500">
                <a:solidFill>
                  <a:srgbClr val="FFFFFF"/>
                </a:solidFill>
              </a:rPr>
              <a:t>shapely / pyproj
CRS-aware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2377440"/>
            <a:ext cx="2560320" cy="3291840"/>
          </a:xfrm>
          <a:prstGeom prst="roundRect">
            <a:avLst/>
          </a:prstGeom>
          <a:solidFill>
            <a:srgbClr val="1A2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052560" y="2377440"/>
            <a:ext cx="2560320" cy="76200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2697480"/>
            <a:ext cx="201167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60A5FA"/>
                </a:solidFill>
              </a:rPr>
              <a:t>search_knowledge
list / describe</a:t>
            </a:r>
          </a:p>
          <a:p>
            <a:r>
              <a:rPr sz="1500">
                <a:solidFill>
                  <a:srgbClr val="FFFFFF"/>
                </a:solidFill>
              </a:rPr>
              <a:t>312 NCWQR cites
+ registry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DD4BF"/>
                </a:solidFill>
              </a:rPr>
              <a:t>PHASE 3 ·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</a:rPr>
              <a:t>server.py — the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9CB3C9"/>
                </a:solidFill>
              </a:rPr>
              <a:t>Flask. CORS open. JSON or streaming SSE — the UI already understands both.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3474720" cy="3657600"/>
          </a:xfrm>
          <a:prstGeom prst="roundRect">
            <a:avLst/>
          </a:prstGeom>
          <a:solidFill>
            <a:srgbClr val="1A2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3474720" cy="7620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606040"/>
            <a:ext cx="2926079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2DD4BF"/>
                </a:solidFill>
              </a:rPr>
              <a:t>POST /query</a:t>
            </a:r>
          </a:p>
          <a:p>
            <a:r>
              <a:rPr sz="1500">
                <a:solidFill>
                  <a:srgbClr val="FFFFFF"/>
                </a:solidFill>
              </a:rPr>
              <a:t>{query, mode, history, aims}
→ {results, tables, explanation, references}
modes: chat · research · spatial ·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286000"/>
            <a:ext cx="3474720" cy="3657600"/>
          </a:xfrm>
          <a:prstGeom prst="roundRect">
            <a:avLst/>
          </a:prstGeom>
          <a:solidFill>
            <a:srgbClr val="1A2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97680" y="2286000"/>
            <a:ext cx="3474720" cy="7620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606040"/>
            <a:ext cx="2926079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2DD4BF"/>
                </a:solidFill>
              </a:rPr>
              <a:t>GET /health · /api/datasets</a:t>
            </a:r>
          </a:p>
          <a:p>
            <a:r>
              <a:rPr sz="1500">
                <a:solidFill>
                  <a:srgbClr val="FFFFFF"/>
                </a:solidFill>
              </a:rPr>
              <a:t>Liveness + registry.
Upload CSV/GeoJSON/XLSX → queryable by name.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286000"/>
            <a:ext cx="3474720" cy="3657600"/>
          </a:xfrm>
          <a:prstGeom prst="roundRect">
            <a:avLst/>
          </a:prstGeom>
          <a:solidFill>
            <a:srgbClr val="1A2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2286000"/>
            <a:ext cx="3474720" cy="76200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606040"/>
            <a:ext cx="2926079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60A5FA"/>
                </a:solidFill>
              </a:rPr>
              <a:t>GET /test-arcgis</a:t>
            </a:r>
          </a:p>
          <a:p>
            <a:r>
              <a:rPr sz="1500">
                <a:solidFill>
                  <a:srgbClr val="FFFFFF"/>
                </a:solidFill>
              </a:rPr>
              <a:t>Backend-only probe.
Proved MapServer live (3/3) vs FeatureServer 500.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DD4BF"/>
                </a:solidFill>
              </a:rPr>
              <a:t>PHASE 4 · INSIDE THE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</a:rPr>
              <a:t>Trace: septic ∩ floodplain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9CB3C9"/>
                </a:solidFill>
              </a:rPr>
              <a:t>What actually ran for your query — three steps, two fetches, one spatial join.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3474720" cy="3840480"/>
          </a:xfrm>
          <a:prstGeom prst="roundRect">
            <a:avLst/>
          </a:prstGeom>
          <a:solidFill>
            <a:srgbClr val="1A2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3474720" cy="7620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606040"/>
            <a:ext cx="292607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2DD4BF"/>
                </a:solidFill>
              </a:rPr>
              <a:t>STEP septic</a:t>
            </a:r>
          </a:p>
          <a:p>
            <a:r>
              <a:rPr sz="1500">
                <a:solidFill>
                  <a:srgbClr val="FFFFFF"/>
                </a:solidFill>
              </a:rPr>
              <a:t>query_arcgis
{dataset: septic_systems}
→ 15,919 polys (paged, outSR=4326)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286000"/>
            <a:ext cx="3474720" cy="3840480"/>
          </a:xfrm>
          <a:prstGeom prst="roundRect">
            <a:avLst/>
          </a:prstGeom>
          <a:solidFill>
            <a:srgbClr val="1A2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97680" y="2286000"/>
            <a:ext cx="3474720" cy="7620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606040"/>
            <a:ext cx="292607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2DD4BF"/>
                </a:solidFill>
              </a:rPr>
              <a:t>STEP floodplains</a:t>
            </a:r>
          </a:p>
          <a:p>
            <a:r>
              <a:rPr sz="1500">
                <a:solidFill>
                  <a:srgbClr val="FFFFFF"/>
                </a:solidFill>
              </a:rPr>
              <a:t>query_arcgis ×2
{MapServer/6 + /7}
→ 3,369 + 14 polys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286000"/>
            <a:ext cx="3474720" cy="3840480"/>
          </a:xfrm>
          <a:prstGeom prst="roundRect">
            <a:avLst/>
          </a:prstGeom>
          <a:solidFill>
            <a:srgbClr val="1A2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2286000"/>
            <a:ext cx="3474720" cy="76200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606040"/>
            <a:ext cx="292607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60A5FA"/>
                </a:solidFill>
              </a:rPr>
              <a:t>STEP result</a:t>
            </a:r>
          </a:p>
          <a:p>
            <a:r>
              <a:rPr sz="1500">
                <a:solidFill>
                  <a:srgbClr val="FFFFFF"/>
                </a:solidFill>
              </a:rPr>
              <a:t>intersect
{input_a: $septic,
 input_b: $floodplains}
→ matching septics + count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DD4BF"/>
                </a:solidFill>
              </a:rPr>
              <a:t>PHASE 4 · INSIDE THE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</a:rPr>
              <a:t>Why you can trust the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9CB3C9"/>
                </a:solidFill>
              </a:rPr>
              <a:t>The model sees summaries — never 15,919 raw polygons.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3474720" cy="3840480"/>
          </a:xfrm>
          <a:prstGeom prst="roundRect">
            <a:avLst/>
          </a:prstGeom>
          <a:solidFill>
            <a:srgbClr val="1A2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3474720" cy="7620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606040"/>
            <a:ext cx="292607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2DD4BF"/>
                </a:solidFill>
              </a:rPr>
              <a:t>Small context</a:t>
            </a:r>
          </a:p>
          <a:p>
            <a:r>
              <a:rPr sz="1500">
                <a:solidFill>
                  <a:srgbClr val="FFFFFF"/>
                </a:solidFill>
              </a:rPr>
              <a:t>LLM gets counts + ≤5 sample props.
Big payloads stay in ResultStore ($refs).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286000"/>
            <a:ext cx="3474720" cy="3840480"/>
          </a:xfrm>
          <a:prstGeom prst="roundRect">
            <a:avLst/>
          </a:prstGeom>
          <a:solidFill>
            <a:srgbClr val="1A2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97680" y="2286000"/>
            <a:ext cx="3474720" cy="7620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606040"/>
            <a:ext cx="292607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2DD4BF"/>
                </a:solidFill>
              </a:rPr>
              <a:t>Cited or stripped</a:t>
            </a:r>
          </a:p>
          <a:p>
            <a:r>
              <a:rPr sz="1500">
                <a:solidFill>
                  <a:srgbClr val="FFFFFF"/>
                </a:solidFill>
              </a:rPr>
              <a:t>Every factual sentence needs [S#]/[T#].
Bad markers are removed + logged.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286000"/>
            <a:ext cx="3474720" cy="3840480"/>
          </a:xfrm>
          <a:prstGeom prst="roundRect">
            <a:avLst/>
          </a:prstGeom>
          <a:solidFill>
            <a:srgbClr val="1A2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2286000"/>
            <a:ext cx="3474720" cy="76200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606040"/>
            <a:ext cx="292607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60A5FA"/>
                </a:solidFill>
              </a:rPr>
              <a:t>Mock honesty</a:t>
            </a:r>
          </a:p>
          <a:p>
            <a:r>
              <a:rPr sz="1500">
                <a:solidFill>
                  <a:srgbClr val="FFFFFF"/>
                </a:solidFill>
              </a:rPr>
              <a:t>Mocked data is labelled mocked:true.
Live answers carry real URLs + counts.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DD4BF"/>
                </a:solidFill>
              </a:rPr>
              <a:t>PHASE 4 · INSIDE THE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</a:rPr>
              <a:t>Takeaway in 30 seconds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286000"/>
            <a:ext cx="3474720" cy="3840480"/>
          </a:xfrm>
          <a:prstGeom prst="roundRect">
            <a:avLst/>
          </a:prstGeom>
          <a:solidFill>
            <a:srgbClr val="1A2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3474720" cy="7620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606040"/>
            <a:ext cx="292607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2DD4BF"/>
                </a:solidFill>
              </a:rPr>
              <a:t>For everyone</a:t>
            </a:r>
          </a:p>
          <a:p>
            <a:r>
              <a:rPr sz="1500">
                <a:solidFill>
                  <a:srgbClr val="FFFFFF"/>
                </a:solidFill>
              </a:rPr>
              <a:t>Type geography → get map + report.
Live county data, verified 2026-09-29.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286000"/>
            <a:ext cx="3474720" cy="3840480"/>
          </a:xfrm>
          <a:prstGeom prst="roundRect">
            <a:avLst/>
          </a:prstGeom>
          <a:solidFill>
            <a:srgbClr val="1A2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97680" y="2286000"/>
            <a:ext cx="3474720" cy="7620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606040"/>
            <a:ext cx="292607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2DD4BF"/>
                </a:solidFill>
              </a:rPr>
              <a:t>For developers</a:t>
            </a:r>
          </a:p>
          <a:p>
            <a:r>
              <a:rPr sz="1500">
                <a:solidFill>
                  <a:srgbClr val="FFFFFF"/>
                </a:solidFill>
              </a:rPr>
              <a:t>Add a tool = 1 schema + 1 function.
Add data = 1 registry entry.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286000"/>
            <a:ext cx="3474720" cy="3840480"/>
          </a:xfrm>
          <a:prstGeom prst="roundRect">
            <a:avLst/>
          </a:prstGeom>
          <a:solidFill>
            <a:srgbClr val="1A2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0" y="2286000"/>
            <a:ext cx="3474720" cy="76200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606040"/>
            <a:ext cx="292607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60A5FA"/>
                </a:solidFill>
              </a:rPr>
              <a:t>For AI engineers</a:t>
            </a:r>
          </a:p>
          <a:p>
            <a:r>
              <a:rPr sz="1500">
                <a:solidFill>
                  <a:srgbClr val="FFFFFF"/>
                </a:solidFill>
              </a:rPr>
              <a:t>LLM plans (JSON) · Python executes.
Validate → orchestrate → ground.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